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97917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defRPr sz="2800" b="1"/>
            </a:pPr>
            <a:r>
              <a:rPr sz="4000"/>
              <a:t>Apple Inc. (AAPL) Historical Stock Market Analysis</a:t>
            </a:r>
            <a:endParaRPr sz="4000"/>
          </a:p>
        </p:txBody>
      </p:sp>
      <p:sp>
        <p:nvSpPr>
          <p:cNvPr id="3" name="TextBox 2"/>
          <p:cNvSpPr txBox="1"/>
          <p:nvPr/>
        </p:nvSpPr>
        <p:spPr>
          <a:xfrm>
            <a:off x="2143760" y="2656840"/>
            <a:ext cx="7965440" cy="19380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/>
            </a:pPr>
            <a:r>
              <a:rPr sz="4000"/>
              <a:t>Advanced Python for Data Analysis</a:t>
            </a:r>
            <a:endParaRPr sz="4000"/>
          </a:p>
          <a:p>
            <a:pPr algn="ctr">
              <a:defRPr sz="2200"/>
            </a:pPr>
            <a:r>
              <a:rPr sz="4000"/>
              <a:t>AnalystLab Africa Internship – Week 6</a:t>
            </a:r>
            <a:endParaRPr sz="4000"/>
          </a:p>
          <a:p>
            <a:pPr algn="ctr">
              <a:defRPr sz="2200"/>
            </a:pPr>
            <a:r>
              <a:rPr sz="4000"/>
              <a:t>Prepared by: Azeemah Sullayman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70630" y="286703"/>
            <a:ext cx="3806190" cy="7067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rPr sz="4000"/>
              <a:t>Project Overview</a:t>
            </a:r>
            <a:endParaRPr sz="4000"/>
          </a:p>
        </p:txBody>
      </p:sp>
      <p:sp>
        <p:nvSpPr>
          <p:cNvPr id="3" name="TextBox 2"/>
          <p:cNvSpPr txBox="1"/>
          <p:nvPr/>
        </p:nvSpPr>
        <p:spPr>
          <a:xfrm>
            <a:off x="1947545" y="1890395"/>
            <a:ext cx="8249920" cy="338264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defRPr sz="2200"/>
            </a:pPr>
            <a:r>
              <a:rPr sz="4000"/>
              <a:t>• Analyze five years of Apple stock data</a:t>
            </a:r>
            <a:endParaRPr sz="4000"/>
          </a:p>
          <a:p>
            <a:pPr algn="ctr">
              <a:defRPr sz="2200"/>
            </a:pPr>
            <a:r>
              <a:rPr sz="4000"/>
              <a:t>• Data transformation using Pandas</a:t>
            </a:r>
            <a:endParaRPr sz="4000"/>
          </a:p>
          <a:p>
            <a:pPr algn="ctr">
              <a:defRPr sz="2200"/>
            </a:pPr>
            <a:r>
              <a:rPr sz="4000"/>
              <a:t>• Time-series analysis</a:t>
            </a:r>
            <a:endParaRPr sz="4000"/>
          </a:p>
          <a:p>
            <a:pPr algn="ctr">
              <a:defRPr sz="2200"/>
            </a:pPr>
            <a:r>
              <a:rPr sz="4000"/>
              <a:t>• Feature engineering</a:t>
            </a:r>
            <a:endParaRPr sz="4000"/>
          </a:p>
          <a:p>
            <a:pPr algn="ctr">
              <a:defRPr sz="2200"/>
            </a:pPr>
            <a:r>
              <a:rPr sz="4000"/>
              <a:t>• Actionable insights</a:t>
            </a:r>
            <a:endParaRPr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1795" y="1013460"/>
            <a:ext cx="11221085" cy="5302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2200"/>
            </a:pPr>
            <a:r>
              <a:rPr sz="2800"/>
              <a:t>Source: Yahoo Finance</a:t>
            </a:r>
            <a:endParaRPr sz="2800"/>
          </a:p>
          <a:p>
            <a:pPr algn="ctr">
              <a:defRPr sz="2200"/>
            </a:pPr>
            <a:r>
              <a:rPr sz="2800"/>
              <a:t>Period: Five Years</a:t>
            </a:r>
            <a:endParaRPr sz="2800"/>
          </a:p>
          <a:p>
            <a:pPr algn="ctr">
              <a:defRPr sz="2200"/>
            </a:pPr>
            <a:endParaRPr sz="2800"/>
          </a:p>
          <a:p>
            <a:pPr algn="ctr">
              <a:defRPr sz="2200"/>
            </a:pPr>
            <a:r>
              <a:rPr sz="2800"/>
              <a:t>Features:</a:t>
            </a:r>
            <a:endParaRPr sz="2800"/>
          </a:p>
          <a:p>
            <a:pPr algn="ctr">
              <a:defRPr sz="2200"/>
            </a:pPr>
            <a:r>
              <a:rPr sz="2800"/>
              <a:t>• Date</a:t>
            </a:r>
            <a:endParaRPr sz="2800"/>
          </a:p>
          <a:p>
            <a:pPr algn="ctr">
              <a:defRPr sz="2200"/>
            </a:pPr>
            <a:r>
              <a:rPr sz="2800"/>
              <a:t>• Open</a:t>
            </a:r>
            <a:endParaRPr sz="2800"/>
          </a:p>
          <a:p>
            <a:pPr algn="ctr">
              <a:defRPr sz="2200"/>
            </a:pPr>
            <a:r>
              <a:rPr sz="2800"/>
              <a:t>• High</a:t>
            </a:r>
            <a:endParaRPr sz="2800"/>
          </a:p>
          <a:p>
            <a:pPr algn="ctr">
              <a:defRPr sz="2200"/>
            </a:pPr>
            <a:r>
              <a:rPr sz="2800"/>
              <a:t>• Low</a:t>
            </a:r>
            <a:endParaRPr sz="2800"/>
          </a:p>
          <a:p>
            <a:pPr algn="ctr">
              <a:defRPr sz="2200"/>
            </a:pPr>
            <a:r>
              <a:rPr sz="2800"/>
              <a:t>• Close</a:t>
            </a:r>
            <a:endParaRPr sz="2800"/>
          </a:p>
          <a:p>
            <a:pPr algn="ctr">
              <a:defRPr sz="2200"/>
            </a:pPr>
            <a:r>
              <a:rPr sz="2800"/>
              <a:t>• Adjusted Close</a:t>
            </a:r>
            <a:endParaRPr sz="2800"/>
          </a:p>
          <a:p>
            <a:pPr algn="ctr">
              <a:defRPr sz="2200"/>
            </a:pPr>
            <a:r>
              <a:rPr sz="2800"/>
              <a:t>• Volume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4425" y="255905"/>
            <a:ext cx="4944110" cy="768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rPr sz="4400"/>
              <a:t>Data Transformation</a:t>
            </a:r>
            <a:endParaRPr sz="4400"/>
          </a:p>
        </p:txBody>
      </p:sp>
      <p:sp>
        <p:nvSpPr>
          <p:cNvPr id="3" name="TextBox 2"/>
          <p:cNvSpPr txBox="1"/>
          <p:nvPr/>
        </p:nvSpPr>
        <p:spPr>
          <a:xfrm>
            <a:off x="2320290" y="1582420"/>
            <a:ext cx="7520940" cy="3784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/>
            </a:pPr>
            <a:r>
              <a:rPr sz="4800"/>
              <a:t>• Converted Date to datetime</a:t>
            </a:r>
            <a:endParaRPr sz="4800"/>
          </a:p>
          <a:p>
            <a:pPr algn="ctr">
              <a:defRPr sz="2200"/>
            </a:pPr>
            <a:r>
              <a:rPr sz="4800"/>
              <a:t>• Daily Price Change</a:t>
            </a:r>
            <a:endParaRPr sz="4800"/>
          </a:p>
          <a:p>
            <a:pPr algn="ctr">
              <a:defRPr sz="2200"/>
            </a:pPr>
            <a:r>
              <a:rPr sz="4800"/>
              <a:t>• Daily % Change</a:t>
            </a:r>
            <a:endParaRPr sz="4800"/>
          </a:p>
          <a:p>
            <a:pPr algn="ctr">
              <a:defRPr sz="2200"/>
            </a:pPr>
            <a:r>
              <a:rPr sz="4800"/>
              <a:t>• High–Low Difference</a:t>
            </a:r>
            <a:endParaRPr sz="4800"/>
          </a:p>
          <a:p>
            <a:pPr algn="ctr">
              <a:defRPr sz="2200"/>
            </a:pPr>
            <a:r>
              <a:rPr sz="4800"/>
              <a:t>• Year, Month &amp; Day</a:t>
            </a:r>
            <a:endParaRPr sz="4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t>Closing Price Trend</a:t>
            </a:r>
          </a:p>
        </p:txBody>
      </p:sp>
      <p:pic>
        <p:nvPicPr>
          <p:cNvPr id="4" name="Picture 3" descr="Screenshot 2026-07-10 1915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85" y="1129030"/>
            <a:ext cx="10118090" cy="50279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t>Trading Volume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9966960" cy="4389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/>
            </a:pPr>
            <a:r>
              <a:t>[INSERT SCREENSHOT HERE]</a:t>
            </a:r>
          </a:p>
        </p:txBody>
      </p:sp>
      <p:pic>
        <p:nvPicPr>
          <p:cNvPr id="4" name="Picture 3" descr="Screenshot 2026-07-11 1058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80" y="1280160"/>
            <a:ext cx="10373360" cy="52108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t>Moving Average Analysis</a:t>
            </a:r>
          </a:p>
        </p:txBody>
      </p:sp>
      <p:pic>
        <p:nvPicPr>
          <p:cNvPr id="4" name="Picture 3" descr="Screenshot 2026-07-11 1059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585" y="960120"/>
            <a:ext cx="10196195" cy="5783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t>Monthly Returns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9966960" cy="4389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/>
            </a:pPr>
            <a:r>
              <a:t>[INSERT SCREENSHOT HERE]</a:t>
            </a:r>
          </a:p>
        </p:txBody>
      </p:sp>
      <p:pic>
        <p:nvPicPr>
          <p:cNvPr id="4" name="Picture 3" descr="Screenshot 2026-07-11 1059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5" y="1182370"/>
            <a:ext cx="9885680" cy="54127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20148" y="255905"/>
            <a:ext cx="4812665" cy="768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rPr sz="4400"/>
              <a:t>Feature Engineering</a:t>
            </a:r>
            <a:endParaRPr sz="4400"/>
          </a:p>
        </p:txBody>
      </p:sp>
      <p:sp>
        <p:nvSpPr>
          <p:cNvPr id="3" name="TextBox 2"/>
          <p:cNvSpPr txBox="1"/>
          <p:nvPr/>
        </p:nvSpPr>
        <p:spPr>
          <a:xfrm>
            <a:off x="4318635" y="1705610"/>
            <a:ext cx="3524250" cy="3538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/>
            </a:pPr>
            <a:r>
              <a:rPr sz="3200"/>
              <a:t>• Daily Price Change</a:t>
            </a:r>
            <a:endParaRPr sz="3200"/>
          </a:p>
          <a:p>
            <a:pPr algn="ctr">
              <a:defRPr sz="2200"/>
            </a:pPr>
            <a:r>
              <a:rPr sz="3200"/>
              <a:t>• Daily % Change</a:t>
            </a:r>
            <a:endParaRPr sz="3200"/>
          </a:p>
          <a:p>
            <a:pPr algn="ctr">
              <a:defRPr sz="2200"/>
            </a:pPr>
            <a:r>
              <a:rPr sz="3200"/>
              <a:t>• 7-Day MA</a:t>
            </a:r>
            <a:endParaRPr sz="3200"/>
          </a:p>
          <a:p>
            <a:pPr algn="ctr">
              <a:defRPr sz="2200"/>
            </a:pPr>
            <a:r>
              <a:rPr sz="3200"/>
              <a:t>• 30-Day MA</a:t>
            </a:r>
            <a:endParaRPr sz="3200"/>
          </a:p>
          <a:p>
            <a:pPr algn="ctr">
              <a:defRPr sz="2200"/>
            </a:pPr>
            <a:r>
              <a:rPr sz="3200"/>
              <a:t>• Daily Return</a:t>
            </a:r>
            <a:endParaRPr sz="3200"/>
          </a:p>
          <a:p>
            <a:pPr algn="ctr">
              <a:defRPr sz="2200"/>
            </a:pPr>
            <a:r>
              <a:rPr sz="3200"/>
              <a:t>• Monthly Return</a:t>
            </a:r>
            <a:endParaRPr sz="3200"/>
          </a:p>
          <a:p>
            <a:pPr algn="ctr">
              <a:defRPr sz="2200"/>
            </a:pPr>
            <a:r>
              <a:rPr sz="3200"/>
              <a:t>• Volatility</a:t>
            </a:r>
            <a:endParaRPr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26305" y="286703"/>
            <a:ext cx="2800350" cy="7067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rPr sz="4000"/>
              <a:t>Key Findings</a:t>
            </a:r>
            <a:endParaRPr sz="4000"/>
          </a:p>
        </p:txBody>
      </p:sp>
      <p:sp>
        <p:nvSpPr>
          <p:cNvPr id="3" name="TextBox 2"/>
          <p:cNvSpPr txBox="1"/>
          <p:nvPr/>
        </p:nvSpPr>
        <p:spPr>
          <a:xfrm>
            <a:off x="2218055" y="1890078"/>
            <a:ext cx="7725410" cy="316928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/>
            </a:pPr>
            <a:r>
              <a:rPr sz="4000"/>
              <a:t>Average Closing Price: $196.61</a:t>
            </a:r>
            <a:endParaRPr sz="4000"/>
          </a:p>
          <a:p>
            <a:pPr algn="ctr">
              <a:defRPr sz="2200"/>
            </a:pPr>
            <a:r>
              <a:rPr sz="4000"/>
              <a:t>Average Trading Volume: 65,084,442</a:t>
            </a:r>
            <a:endParaRPr sz="4000"/>
          </a:p>
          <a:p>
            <a:pPr algn="ctr">
              <a:defRPr sz="2200"/>
            </a:pPr>
            <a:r>
              <a:rPr sz="4000"/>
              <a:t>Average Daily Return: 0.08%</a:t>
            </a:r>
            <a:endParaRPr sz="4000"/>
          </a:p>
          <a:p>
            <a:pPr algn="ctr">
              <a:defRPr sz="2200"/>
            </a:pPr>
            <a:r>
              <a:rPr sz="4000"/>
              <a:t>Average 30-Day Volatility: 1.64%</a:t>
            </a:r>
            <a:endParaRPr sz="4000"/>
          </a:p>
          <a:p>
            <a:pPr algn="ctr">
              <a:defRPr sz="2200"/>
            </a:pPr>
            <a:r>
              <a:rPr sz="4000"/>
              <a:t>Overall Stock Growth: 117.49%</a:t>
            </a:r>
            <a:endParaRPr sz="4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69055" y="255905"/>
            <a:ext cx="4514850" cy="768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rPr sz="4400"/>
              <a:t>Recommendations</a:t>
            </a:r>
            <a:endParaRPr sz="4400"/>
          </a:p>
        </p:txBody>
      </p:sp>
      <p:sp>
        <p:nvSpPr>
          <p:cNvPr id="3" name="TextBox 2"/>
          <p:cNvSpPr txBox="1"/>
          <p:nvPr/>
        </p:nvSpPr>
        <p:spPr>
          <a:xfrm>
            <a:off x="2241550" y="2198053"/>
            <a:ext cx="7678420" cy="255333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/>
            </a:pPr>
            <a:r>
              <a:rPr sz="4000"/>
              <a:t>• Monitor long-term trends</a:t>
            </a:r>
            <a:endParaRPr sz="4000"/>
          </a:p>
          <a:p>
            <a:pPr algn="ctr">
              <a:defRPr sz="2200"/>
            </a:pPr>
            <a:r>
              <a:rPr sz="4000"/>
              <a:t>• Consider volatility</a:t>
            </a:r>
            <a:endParaRPr sz="4000"/>
          </a:p>
          <a:p>
            <a:pPr algn="ctr">
              <a:defRPr sz="2200"/>
            </a:pPr>
            <a:r>
              <a:rPr sz="4000"/>
              <a:t>• Compare peer companies</a:t>
            </a:r>
            <a:endParaRPr sz="4000"/>
          </a:p>
          <a:p>
            <a:pPr algn="ctr">
              <a:defRPr sz="2200"/>
            </a:pPr>
            <a:r>
              <a:rPr sz="4000"/>
              <a:t>• Combine with economic indicators</a:t>
            </a:r>
            <a:endParaRPr sz="4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86960" y="286703"/>
            <a:ext cx="2479040" cy="7067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rPr sz="4000"/>
              <a:t>Conclusion</a:t>
            </a:r>
            <a:endParaRPr sz="4000"/>
          </a:p>
        </p:txBody>
      </p:sp>
      <p:sp>
        <p:nvSpPr>
          <p:cNvPr id="3" name="TextBox 2"/>
          <p:cNvSpPr txBox="1"/>
          <p:nvPr/>
        </p:nvSpPr>
        <p:spPr>
          <a:xfrm>
            <a:off x="328295" y="1711960"/>
            <a:ext cx="11504930" cy="3568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defRPr sz="2200"/>
            </a:pPr>
            <a:r>
              <a:rPr sz="2800"/>
              <a:t>Advanced Python techniques successfully analyzed Apple's stock performance.</a:t>
            </a:r>
            <a:endParaRPr sz="2800"/>
          </a:p>
          <a:p>
            <a:pPr algn="ctr">
              <a:defRPr sz="2200"/>
            </a:pPr>
            <a:endParaRPr sz="2800"/>
          </a:p>
          <a:p>
            <a:pPr algn="ctr">
              <a:defRPr sz="2200"/>
            </a:pPr>
            <a:r>
              <a:rPr sz="2800"/>
              <a:t>Overall Stock Growth: 117.49%</a:t>
            </a:r>
            <a:endParaRPr sz="2800"/>
          </a:p>
          <a:p>
            <a:pPr algn="ctr">
              <a:defRPr sz="2200"/>
            </a:pPr>
            <a:endParaRPr sz="2800"/>
          </a:p>
          <a:p>
            <a:pPr algn="ctr">
              <a:defRPr sz="2200"/>
            </a:pPr>
            <a:r>
              <a:rPr sz="2800"/>
              <a:t>Thank You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Presentation</Application>
  <PresentationFormat>On-screen Show (4:3)</PresentationFormat>
  <Paragraphs>81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google1571121954</cp:lastModifiedBy>
  <cp:revision>2</cp:revision>
  <dcterms:created xsi:type="dcterms:W3CDTF">2013-01-27T09:14:00Z</dcterms:created>
  <dcterms:modified xsi:type="dcterms:W3CDTF">2026-07-11T10:08:55Z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F9E09798AE404EFDA0EB5EDB5F15ABEB_12</vt:lpwstr>
  </property>
  <property fmtid="{D5CDD505-2E9C-101B-9397-08002B2CF9AE}" pid="3" name="KSOProductBuildVer">
    <vt:lpwstr>1033-12.1.0.26880</vt:lpwstr>
  </property>
</Properties>
</file>