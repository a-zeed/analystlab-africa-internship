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9" r:id="rId6"/>
    <p:sldId id="260" r:id="rId7"/>
    <p:sldId id="261" r:id="rId8"/>
    <p:sldId id="262" r:id="rId9"/>
    <p:sldId id="263" r:id="rId10"/>
    <p:sldId id="268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75.xml"/><Relationship Id="rId4" Type="http://schemas.openxmlformats.org/officeDocument/2006/relationships/image" Target="../media/image1.png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2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3" Type="http://schemas.openxmlformats.org/officeDocument/2006/relationships/image" Target="../media/image3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4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5.pn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CUSTOMER CHURN ANALYSIS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Prepared by: Azeemah Sullayman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AnalystLab Africa Internship – Week 5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Business Problem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/>
              <a:t>Customer churn is one of the biggest challenges faced by telecommunication companies. Losing customers results in reduced revenue, higher customer acquisition costs, and lower long-term profitability.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This project analyzes customer behavior to identify the key drivers of churn and provides data-driven recommendations to improve customer retention.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46170" y="288360"/>
            <a:ext cx="10969200" cy="70560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Dataset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53365" y="993775"/>
            <a:ext cx="11323955" cy="5629275"/>
          </a:xfrm>
        </p:spPr>
        <p:txBody>
          <a:bodyPr>
            <a:noAutofit/>
          </a:bodyPr>
          <a:p>
            <a:r>
              <a:rPr lang="en-US" altLang="en-US"/>
              <a:t>Dataset: Telco Customer Churn Dataset</a:t>
            </a:r>
            <a:endParaRPr lang="en-US" altLang="en-US"/>
          </a:p>
          <a:p>
            <a:r>
              <a:rPr lang="en-US" altLang="en-US"/>
              <a:t>Source: Kaggle</a:t>
            </a:r>
            <a:endParaRPr lang="en-US" altLang="en-US"/>
          </a:p>
          <a:p>
            <a:r>
              <a:rPr lang="en-US" altLang="en-US"/>
              <a:t>Dataset Size: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7,043 Customers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21 Features</a:t>
            </a:r>
            <a:endParaRPr lang="en-US" altLang="en-US"/>
          </a:p>
          <a:p>
            <a:r>
              <a:rPr lang="en-US" altLang="en-US"/>
              <a:t>Fields include customer demographics, services subscribed, contract type, payment method, monthly charges, total charges, tenure, and churn status.</a:t>
            </a:r>
            <a:endParaRPr lang="en-US" altLang="en-US"/>
          </a:p>
          <a:p>
            <a:r>
              <a:rPr lang="en-US" altLang="en-US"/>
              <a:t>Tools Used:</a:t>
            </a:r>
            <a:endParaRPr lang="en-US" altLang="en-US"/>
          </a:p>
          <a:p>
            <a:r>
              <a:rPr lang="en-US" altLang="en-US"/>
              <a:t>Python</a:t>
            </a:r>
            <a:endParaRPr lang="en-US" altLang="en-US"/>
          </a:p>
          <a:p>
            <a:r>
              <a:rPr lang="en-US" altLang="en-US"/>
              <a:t>Power BI</a:t>
            </a:r>
            <a:endParaRPr lang="en-US" altLang="en-US"/>
          </a:p>
          <a:p>
            <a:r>
              <a:rPr lang="en-US" altLang="en-US"/>
              <a:t>Pandas</a:t>
            </a:r>
            <a:endParaRPr lang="en-US" altLang="en-US"/>
          </a:p>
          <a:p>
            <a:r>
              <a:rPr lang="en-US" altLang="en-US"/>
              <a:t>Matplotlib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KPIs Defined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3200">
                <a:sym typeface="+mn-ea"/>
              </a:rPr>
              <a:t>KPIs Defined</a:t>
            </a:r>
            <a:endParaRPr lang="en-US" altLang="en-US" sz="3200"/>
          </a:p>
          <a:p>
            <a:r>
              <a:rPr lang="en-US" altLang="en-US" sz="3200">
                <a:sym typeface="+mn-ea"/>
              </a:rPr>
              <a:t>Total Customers: 7,043</a:t>
            </a:r>
            <a:endParaRPr lang="en-US" altLang="en-US" sz="3200"/>
          </a:p>
          <a:p>
            <a:r>
              <a:rPr lang="en-US" altLang="en-US" sz="3200">
                <a:sym typeface="+mn-ea"/>
              </a:rPr>
              <a:t>Churned Customers: 1,869</a:t>
            </a:r>
            <a:endParaRPr lang="en-US" altLang="en-US" sz="3200"/>
          </a:p>
          <a:p>
            <a:r>
              <a:rPr lang="en-US" altLang="en-US" sz="3200">
                <a:sym typeface="+mn-ea"/>
              </a:rPr>
              <a:t>Churn Rate: 26.54%</a:t>
            </a:r>
            <a:endParaRPr lang="en-US" altLang="en-US" sz="3200"/>
          </a:p>
          <a:p>
            <a:r>
              <a:rPr lang="en-US" altLang="en-US" sz="3200">
                <a:sym typeface="+mn-ea"/>
              </a:rPr>
              <a:t>Average Monthly Charges: $64.76</a:t>
            </a:r>
            <a:endParaRPr lang="en-US" altLang="en-US" sz="3200"/>
          </a:p>
          <a:p>
            <a:endParaRPr lang="en-US" altLang="en-US" sz="3200"/>
          </a:p>
        </p:txBody>
      </p:sp>
      <p:pic>
        <p:nvPicPr>
          <p:cNvPr id="7" name="Content Placeholder 6" descr="ChatGPT Image Jul 4, 2026, 08_00_33 AM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86425" y="2591435"/>
            <a:ext cx="6219190" cy="25679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76600"/>
            <a:ext cx="10969200" cy="70560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Dashboard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28270" y="882015"/>
            <a:ext cx="11449050" cy="5848985"/>
          </a:xfrm>
        </p:spPr>
        <p:txBody>
          <a:bodyPr>
            <a:noAutofit/>
          </a:bodyPr>
          <a:p>
            <a:r>
              <a:rPr lang="en-US" altLang="en-US" sz="1400"/>
              <a:t>Interactive Features:</a:t>
            </a:r>
            <a:endParaRPr lang="en-US" altLang="en-US" sz="1400"/>
          </a:p>
          <a:p>
            <a:r>
              <a:rPr lang="en-US" altLang="en-US" sz="1300"/>
              <a:t>• Contract Type Filter</a:t>
            </a:r>
            <a:endParaRPr lang="en-US" altLang="en-US" sz="1300"/>
          </a:p>
          <a:p>
            <a:r>
              <a:rPr lang="en-US" altLang="en-US" sz="1300"/>
              <a:t>• Internet Service Filter</a:t>
            </a:r>
            <a:endParaRPr lang="en-US" altLang="en-US" sz="1300"/>
          </a:p>
          <a:p>
            <a:r>
              <a:rPr lang="en-US" altLang="en-US" sz="1300"/>
              <a:t>• Payment Method Filter</a:t>
            </a:r>
            <a:endParaRPr lang="en-US" altLang="en-US" sz="1300"/>
          </a:p>
          <a:p>
            <a:r>
              <a:rPr lang="en-US" altLang="en-US" sz="1300"/>
              <a:t>• Customer Demographics</a:t>
            </a:r>
            <a:endParaRPr lang="en-US" altLang="en-US" sz="1300"/>
          </a:p>
          <a:p>
            <a:r>
              <a:rPr lang="en-US" altLang="en-US" sz="1400"/>
              <a:t>Visuals Included:</a:t>
            </a:r>
            <a:endParaRPr lang="en-US" altLang="en-US" sz="1400"/>
          </a:p>
          <a:p>
            <a:r>
              <a:rPr lang="en-US" altLang="en-US" sz="1300"/>
              <a:t>• Customer Churn Distribution</a:t>
            </a:r>
            <a:endParaRPr lang="en-US" altLang="en-US" sz="1300"/>
          </a:p>
          <a:p>
            <a:r>
              <a:rPr lang="en-US" altLang="en-US" sz="1300"/>
              <a:t>• Churn by Contract Type</a:t>
            </a:r>
            <a:endParaRPr lang="en-US" altLang="en-US" sz="1300"/>
          </a:p>
          <a:p>
            <a:r>
              <a:rPr lang="en-US" altLang="en-US" sz="1300"/>
              <a:t>• Churn by Internet Service</a:t>
            </a:r>
            <a:endParaRPr lang="en-US" altLang="en-US" sz="1300"/>
          </a:p>
          <a:p>
            <a:r>
              <a:rPr lang="en-US" altLang="en-US" sz="1300"/>
              <a:t>• Customer Tenure Distribution</a:t>
            </a:r>
            <a:endParaRPr lang="en-US" altLang="en-US" sz="1300"/>
          </a:p>
          <a:p>
            <a:r>
              <a:rPr lang="en-US" altLang="en-US" sz="1300"/>
              <a:t>• Average Monthly Charges by Churn</a:t>
            </a:r>
            <a:endParaRPr lang="en-US" altLang="en-US" sz="1300"/>
          </a:p>
          <a:p>
            <a:r>
              <a:rPr lang="en-US" altLang="en-US" sz="1300"/>
              <a:t>• Senior Citizen vs Churn</a:t>
            </a:r>
            <a:endParaRPr lang="en-US" altLang="en-US" sz="1300"/>
          </a:p>
          <a:p>
            <a:r>
              <a:rPr lang="en-US" altLang="en-US" sz="1300"/>
              <a:t>• Gender vs Churn</a:t>
            </a:r>
            <a:endParaRPr lang="en-US" altLang="en-US" sz="1300"/>
          </a:p>
          <a:p>
            <a:r>
              <a:rPr lang="en-US" altLang="en-US" sz="1300"/>
              <a:t>• Partner &amp; Dependents Analysis</a:t>
            </a:r>
            <a:endParaRPr lang="en-US" altLang="en-US" sz="13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46120"/>
            <a:ext cx="10969200" cy="70560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FULL DASHBOARD</a:t>
            </a:r>
            <a:endParaRPr lang="en-US"/>
          </a:p>
        </p:txBody>
      </p:sp>
      <p:pic>
        <p:nvPicPr>
          <p:cNvPr id="10" name="Content Placeholder 9" descr="ChatGPT Image Jul 4, 2026, 07_54_02 AM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785495"/>
            <a:ext cx="10968355" cy="6007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38830"/>
            <a:ext cx="10969200" cy="70560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Key Insights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43025"/>
            <a:ext cx="10968990" cy="4906645"/>
          </a:xfrm>
        </p:spPr>
        <p:txBody>
          <a:bodyPr>
            <a:normAutofit lnSpcReduction="10000"/>
          </a:bodyPr>
          <a:p>
            <a:r>
              <a:rPr lang="en-US" altLang="en-US" sz="2400"/>
              <a:t> Month-to-month contracts recorded the highest customer churn.</a:t>
            </a:r>
            <a:endParaRPr lang="en-US" altLang="en-US" sz="2400"/>
          </a:p>
          <a:p>
            <a:r>
              <a:rPr lang="en-US" altLang="en-US" sz="2400"/>
              <a:t> Fiber optic customers experienced higher churn than DSL customers.</a:t>
            </a:r>
            <a:endParaRPr lang="en-US" altLang="en-US" sz="2400"/>
          </a:p>
          <a:p>
            <a:r>
              <a:rPr lang="en-US" altLang="en-US" sz="2400"/>
              <a:t> Customers with shorter tenure were significantly more likely to leave.</a:t>
            </a:r>
            <a:endParaRPr lang="en-US" altLang="en-US" sz="2400"/>
          </a:p>
          <a:p>
            <a:r>
              <a:rPr lang="en-US" altLang="en-US" sz="2400"/>
              <a:t> Customers with higher monthly charges showed a greater likelihood of churning.</a:t>
            </a:r>
            <a:endParaRPr lang="en-US" altLang="en-US" sz="2400"/>
          </a:p>
          <a:p>
            <a:r>
              <a:rPr lang="en-US" altLang="en-US" sz="2400"/>
              <a:t> Senior citizens exhibited a relatively higher churn rate than non-senior customers.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Churn by Contract Type</a:t>
            </a:r>
            <a:endParaRPr lang="en-US"/>
          </a:p>
        </p:txBody>
      </p:sp>
      <p:pic>
        <p:nvPicPr>
          <p:cNvPr id="11" name="Content Placeholder 10" descr="ChatGPT Image Jul 2, 2026, 08_25_39 PM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22855" y="1490345"/>
            <a:ext cx="713867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Churn by Internet Service</a:t>
            </a:r>
            <a:endParaRPr lang="en-US"/>
          </a:p>
        </p:txBody>
      </p:sp>
      <p:pic>
        <p:nvPicPr>
          <p:cNvPr id="10" name="Content Placeholder 9" descr="ChatGPT Image Jul 2, 2026, 08_25_51 PM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41525" y="1490345"/>
            <a:ext cx="810196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Average Monthly Charges by Churn</a:t>
            </a:r>
            <a:endParaRPr lang="en-US"/>
          </a:p>
        </p:txBody>
      </p:sp>
      <p:pic>
        <p:nvPicPr>
          <p:cNvPr id="10" name="Content Placeholder 9" descr="ChatGPT Image Jul 2, 2026, 08_25_27 PM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22855" y="1490345"/>
            <a:ext cx="713867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5210" y="238195"/>
            <a:ext cx="10969200" cy="705600"/>
          </a:xfrm>
        </p:spPr>
        <p:txBody>
          <a:bodyPr/>
          <a:p>
            <a:pPr algn="ctr"/>
            <a:r>
              <a:rPr lang="en-US" altLang="en-US">
                <a:sym typeface="+mn-ea"/>
              </a:rPr>
              <a:t>Recommendations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096010"/>
            <a:ext cx="11092180" cy="5461635"/>
          </a:xfrm>
        </p:spPr>
        <p:txBody>
          <a:bodyPr>
            <a:noAutofit/>
          </a:bodyPr>
          <a:p>
            <a:r>
              <a:rPr lang="en-US" altLang="en-US" sz="2800"/>
              <a:t>Encourage customers to migrate to long-term contracts through targeted incentives.</a:t>
            </a:r>
            <a:endParaRPr lang="en-US" altLang="en-US" sz="2800"/>
          </a:p>
          <a:p>
            <a:r>
              <a:rPr lang="en-US" altLang="en-US" sz="2800"/>
              <a:t>Improve customer retention strategies for Fiber Optic subscribers.</a:t>
            </a:r>
            <a:endParaRPr lang="en-US" altLang="en-US" sz="2800"/>
          </a:p>
          <a:p>
            <a:r>
              <a:rPr lang="en-US" altLang="en-US" sz="2800"/>
              <a:t>Strengthen customer engagement during the first year of service.</a:t>
            </a:r>
            <a:endParaRPr lang="en-US" altLang="en-US" sz="2800"/>
          </a:p>
          <a:p>
            <a:r>
              <a:rPr lang="en-US" altLang="en-US" sz="2800"/>
              <a:t>Introduce loyalty rewards for high-risk customer segments.</a:t>
            </a:r>
            <a:endParaRPr lang="en-US" altLang="en-US" sz="2800"/>
          </a:p>
          <a:p>
            <a:r>
              <a:rPr lang="en-US" altLang="en-US" sz="2800"/>
              <a:t>Continuously monitor churn trends using interactive dashboards.</a:t>
            </a:r>
            <a:endParaRPr lang="en-US" altLang="en-US" sz="2800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3200"/>
              <a:t>The Customer Churn Dashboard transformed raw customer data into meaningful business insights.</a:t>
            </a:r>
            <a:endParaRPr lang="en-US" altLang="en-US" sz="3200"/>
          </a:p>
          <a:p>
            <a:r>
              <a:rPr lang="en-US" altLang="en-US" sz="3200"/>
              <a:t>The analysis identified the key factors influencing customer churn and provided practical recommendations that can support customer retention and improve business performance through data-driven decision-making.</a:t>
            </a:r>
            <a:endParaRPr lang="en-US" altLang="en-US" sz="32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2369</Words>
  <Application>WPS Presentation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等线</vt:lpstr>
      <vt:lpstr>Lato</vt:lpstr>
      <vt:lpstr>Manrope ExtraBold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</dc:title>
  <dc:creator>zeema</dc:creator>
  <cp:lastModifiedBy>google1571121954</cp:lastModifiedBy>
  <cp:revision>8</cp:revision>
  <dcterms:created xsi:type="dcterms:W3CDTF">2026-07-04T06:37:19Z</dcterms:created>
  <dcterms:modified xsi:type="dcterms:W3CDTF">2026-07-04T07:04:03Z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AC0D2704EF1140368382E2C86D223ECC_11</vt:lpwstr>
  </property>
</Properties>
</file>